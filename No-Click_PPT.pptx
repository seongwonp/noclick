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2" r:id="rId14"/>
    <p:sldId id="267" r:id="rId15"/>
    <p:sldId id="268" r:id="rId16"/>
    <p:sldId id="269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46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jpe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101589"/>
            <a:ext cx="285750" cy="285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1564146"/>
            <a:ext cx="8429625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5200" b="1" kern="0" spc="-2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No-Click</a:t>
            </a:r>
            <a:endParaRPr lang="en-US" sz="5200" dirty="0"/>
          </a:p>
        </p:txBody>
      </p:sp>
      <p:sp>
        <p:nvSpPr>
          <p:cNvPr id="5" name="Text 1"/>
          <p:cNvSpPr/>
          <p:nvPr/>
        </p:nvSpPr>
        <p:spPr>
          <a:xfrm>
            <a:off x="714375" y="2421396"/>
            <a:ext cx="842962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광고 블로그를 클릭하기 전에,
진실을 먼저 알려주는 AI 후기 분석기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714375" y="3647219"/>
            <a:ext cx="330577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Caeser 팀 | 박성원 · 차아미 · 서예솔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714375" y="3875819"/>
            <a:ext cx="330577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수원대학교 DS&amp;ML센터 바이브코딩 해커톤 · 트랙 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871538"/>
            <a:ext cx="428625" cy="42863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714375" y="428625"/>
            <a:ext cx="15609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Contents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14375" y="1271588"/>
            <a:ext cx="4286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57313" y="1306413"/>
            <a:ext cx="18145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Definition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4375" y="1798439"/>
            <a:ext cx="4286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57313" y="1833265"/>
            <a:ext cx="118764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Insight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4375" y="2325291"/>
            <a:ext cx="4286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57313" y="2360116"/>
            <a:ext cx="177879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Solution: No-Click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4375" y="2852142"/>
            <a:ext cx="4286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57313" y="2886968"/>
            <a:ext cx="278784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&amp; Differentiation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4375" y="3378994"/>
            <a:ext cx="42862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57313" y="3413820"/>
            <a:ext cx="13858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&amp; Vision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가짜 후기의 범람: "솔직한 후기"라는 기만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14375" y="1859356"/>
            <a:ext cx="35718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우리가 매일 마주하는 블로그와 리뷰들,
그 중 얼마나 많은 글이 </a:t>
            </a:r>
            <a:r>
              <a:rPr lang="en-US" sz="12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진실</a:t>
            </a: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담고 있을까요?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003752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4406" y="2968033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"솔직한 후기"라는 이름으로 위장된 바이럴 마케팅의 실태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532389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4406" y="3496670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협찬 사실을 숨기거나 교묘하게 배치하여 소비자를 기만</a:t>
            </a:r>
            <a:endParaRPr lang="en-US" sz="10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4061027"/>
            <a:ext cx="142875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4406" y="4025308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소비자는 더 이상 무엇이 진실인지 알 수 없는 혼란에 빠짐</a:t>
            </a:r>
            <a:endParaRPr lang="en-US" sz="10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1484" y="2603004"/>
            <a:ext cx="964406" cy="8572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772150" y="3603129"/>
            <a:ext cx="174307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Deceptive Marketing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b="1"/>
              <a:t>실제 소비자의 하루: 28세 직장인 김지연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14375" y="1859356"/>
            <a:ext cx="35718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1200">
                <a:solidFill>
                  <a:srgbClr val="166534"/>
                </a:solidFill>
              </a:rPr>
              <a:t>No-Click이 없다면, 오늘도 김지연 씨는 광고에 속습니다.
광고인지 아닌지 몰라서, 그냥 믿어버리는 사람들의 이야기.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003752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4406" y="2968033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sz="1100"/>
              <a:t>점심시간, "역대급 맛집" 블로그 포스팅 발견 — 별점 5개, "협찬 없는 솔직한 후기" 문구에 신뢰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532389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4406" y="3496670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sz="1100"/>
              <a:t>퇴근 후 방문: 주차 불가, 대기 40분, 맛은 평범 — 알고 보니 업체 협찬 리뷰였음</a:t>
            </a:r>
            <a:endParaRPr lang="en-US" sz="10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4061027"/>
            <a:ext cx="142875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4406" y="4025308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sz="1100"/>
              <a:t>이런 경험이 쌓일수록 검색 피로 증가, 구매 결정에 30분 이상 소비하는 일상 반복</a:t>
            </a:r>
            <a:endParaRPr lang="en-US" sz="10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484" y="2603004"/>
            <a:ext cx="964406" cy="8572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772150" y="3603129"/>
            <a:ext cx="1743075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dirty="0"/>
              <a:t>User Persona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정보 비대칭의 피해: 반복되는 실망감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14375" y="1412677"/>
            <a:ext cx="35718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잘못된 정보는 단순한 실망을 넘어
소비자의 시간과 비용을 낭비하게 합니다.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135591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4406" y="2107016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맛집 실패 및 제품 반품:</a:t>
            </a: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별점 5개 리뷰만 믿고 선택했다가 겪는 반복적인 실망감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699947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4406" y="2671372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검색 피로도 증가:</a:t>
            </a: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진짜 정보를 찾기 위해 수십 개의 블로그를 대조해야 하는 번거로움</a:t>
            </a:r>
            <a:endParaRPr lang="en-US" sz="9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264303"/>
            <a:ext cx="178594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0125" y="3235728"/>
            <a:ext cx="32861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정보 비대칭 심화:</a:t>
            </a: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마케팅 자본을 가진 업체와 일반 소비자 간의 정보 격차 확대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714375" y="4242997"/>
            <a:ext cx="3571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광고성 게시물 의심 비율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714375" y="4469811"/>
            <a:ext cx="3571875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653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국내 주요 플랫폼 평균 60% 이상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4714875" y="1412677"/>
            <a:ext cx="3714750" cy="3214688"/>
          </a:xfrm>
          <a:prstGeom prst="rect">
            <a:avLst/>
          </a:prstGeom>
          <a:solidFill>
            <a:srgbClr val="F3F4F6"/>
          </a:solidFill>
          <a:ln w="18288">
            <a:solidFill>
              <a:srgbClr val="D1D5DB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2537817"/>
            <a:ext cx="457200" cy="457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531941" y="3137892"/>
            <a:ext cx="2080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광고 블로그 예시 스크린샷 삽입 공간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6182023" y="3380780"/>
            <a:ext cx="78045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(520px x 450px)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핵심 인사이트: 침묵의 패턴을 읽다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071563" y="1412677"/>
            <a:ext cx="7358063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16653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"광고 글은 단점을 말하지 않는다."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071563" y="1931296"/>
            <a:ext cx="73580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우리는 쓰여진 단어가 아닌, </a:t>
            </a:r>
            <a:r>
              <a:rPr lang="en-US" sz="12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누락된 정보(결핍)</a:t>
            </a:r>
            <a:r>
              <a:rPr lang="en-US" sz="12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통해 진실을 역추론합니다.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8349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375" y="3197526"/>
            <a:ext cx="238124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협찬 부인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14375" y="3536854"/>
            <a:ext cx="238124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부정 행위 자체가 강력한 광고 신호로 작용하는 역설적 패턴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714375" y="4091164"/>
            <a:ext cx="2381241" cy="326827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714375" y="4091164"/>
            <a:ext cx="28575" cy="326827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714375" y="4091164"/>
            <a:ext cx="2381241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"원고료를 받지 않은 솔직한 후기입니다"</a:t>
            </a:r>
            <a:endParaRPr lang="en-US" sz="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66" y="283498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81366" y="3197526"/>
            <a:ext cx="238124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과장 표현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381366" y="3536854"/>
            <a:ext cx="238124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객관적 정보 대신 감성적 최상급 표현을 집중적으로 사용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381366" y="4091164"/>
            <a:ext cx="2381241" cy="326827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3381366" y="4091164"/>
            <a:ext cx="28575" cy="326827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3381366" y="4091164"/>
            <a:ext cx="2381241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"역대급", "인생 맛집", "무조건 방문"</a:t>
            </a:r>
            <a:endParaRPr lang="en-US" sz="8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56" y="283498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48356" y="3197526"/>
            <a:ext cx="238124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단점 회피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048356" y="3536854"/>
            <a:ext cx="238124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단점을 언급하더라도 즉시 긍정적인 내용으로 희석하는 패턴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048356" y="4091164"/>
            <a:ext cx="2381241" cy="326827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6"/>
          <p:cNvSpPr/>
          <p:nvPr/>
        </p:nvSpPr>
        <p:spPr>
          <a:xfrm>
            <a:off x="6048356" y="4091164"/>
            <a:ext cx="28575" cy="326827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/>
          <p:nvPr/>
        </p:nvSpPr>
        <p:spPr>
          <a:xfrm>
            <a:off x="6048356" y="4091164"/>
            <a:ext cx="2381241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"주차가 좀 그렇긴 한데 그래도 괜찮아요"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솔루션: No-Click - 침묵을 읽는 AI 수사관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14375" y="1269802"/>
            <a:ext cx="6429375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텍스트를 붙여넣는 순간, AI 수사관이 분석을 시작합니다.
광고 확률부터 숨겨진 의도까지, 데이터로 증명하는 투명한 리뷰 생태계.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074380"/>
            <a:ext cx="1714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3472644"/>
            <a:ext cx="238124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광고 확률 분석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14375" y="3811972"/>
            <a:ext cx="238124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0~100%의 수치로 광고 가능성을 즉시 판정하여 사용자에게 경고를 보냅니다.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66" y="3074380"/>
            <a:ext cx="257175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81366" y="3472644"/>
            <a:ext cx="238124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신뢰도 평가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381366" y="3811972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구체적인 정보의 밀도를 분석하여 해당 리뷰가 얼마나 신뢰할 수 있는지 점수화합니다.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56" y="307438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48356" y="3472644"/>
            <a:ext cx="238124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숨겨진 의도 파악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048356" y="3811972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단순 정보 전달인지, 특정 업체의 바이럴 마케팅인지 글의 본질적인 목적을 분석합니다.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정밀 분석 시스템: 광고 확률 및 신뢰도 분석</a:t>
            </a:r>
            <a:endParaRPr lang="en-US" sz="2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1552873"/>
            <a:ext cx="107156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64419" y="1508224"/>
            <a:ext cx="111085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광고 확률 분석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85825" y="1811834"/>
            <a:ext cx="28289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0~100% 수치로 광고 가능성을 정밀하게 표시합니다. 70% 이상일 경우 광고성 게시물로 강력하게 판정합니다.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85157"/>
            <a:ext cx="160734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17997" y="2640509"/>
            <a:ext cx="128230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신뢰도 점수 산출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885825" y="2944118"/>
            <a:ext cx="28289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구체적인 가격 정보, 단점 언급, 상황 묘사의 구체성을 종합하여 후기의 실질적인 신뢰 가치를 점수화합니다.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3817441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00138" y="3772793"/>
            <a:ext cx="128230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광고성 문구 탐지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885825" y="4076402"/>
            <a:ext cx="28289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과장된 표현, 협찬 부인 패턴, 단점 회피 문구를 실시간으로 탐지하여 사용자에게 하이라이트로 보여줍니다.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4143375" y="1599307"/>
            <a:ext cx="4286250" cy="3214688"/>
          </a:xfrm>
          <a:prstGeom prst="rect">
            <a:avLst/>
          </a:prstGeom>
          <a:solidFill>
            <a:srgbClr val="F8FAFC"/>
          </a:solidFill>
          <a:ln w="18288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88" y="2774454"/>
            <a:ext cx="428625" cy="4286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54253" y="3310235"/>
            <a:ext cx="16644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분석 결과 화면 스크린샷 자리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5929313" y="3517404"/>
            <a:ext cx="7143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600px x 450px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핵심 기술: 숨겨진 단점 역추론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14375" y="2033681"/>
            <a:ext cx="3643313" cy="46434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No-Click만의 독보적인 차별점:
쓰여진 단어가 아닌 '침묵'을 분석합니다.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14375" y="2712337"/>
            <a:ext cx="36433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광고성 게시물은 의도적으로 부정적인 정보를 누락시킵니다. No-Click은 문맥적 결핍을 파악하여 소비자가 꼭 알아야 할 정보를 도출합니다.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572377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8688" y="3543802"/>
            <a:ext cx="24467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언급되지 않은 주차, 가격, 소음 정보 역추론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850984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8688" y="3822409"/>
            <a:ext cx="19823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딥러닝 기반 문맥 및 정보 밀도 분석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4129590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8688" y="4101015"/>
            <a:ext cx="23985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추론 결과에 대한 근거 및 신뢰도 수치 제공</a:t>
            </a:r>
            <a:endParaRPr lang="en-US" sz="900" dirty="0"/>
          </a:p>
        </p:txBody>
      </p:sp>
      <p:sp>
        <p:nvSpPr>
          <p:cNvPr id="12" name="Shape 6"/>
          <p:cNvSpPr/>
          <p:nvPr/>
        </p:nvSpPr>
        <p:spPr>
          <a:xfrm>
            <a:off x="4822031" y="1599307"/>
            <a:ext cx="3571875" cy="3214688"/>
          </a:xfrm>
          <a:prstGeom prst="rect">
            <a:avLst/>
          </a:prstGeom>
          <a:solidFill>
            <a:srgbClr val="F8FAFC"/>
          </a:solidFill>
          <a:ln w="18288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3656" y="2792313"/>
            <a:ext cx="428625" cy="4286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640884" y="3328095"/>
            <a:ext cx="193417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sz="850" b="1">
                <a:solidFill>
                  <a:srgbClr val="10B981"/>
                </a:solidFill>
              </a:rPr>
              <a:t>[ 실제 분석 결과 예시 ]</a:t>
            </a:r>
            <a:endParaRPr lang="en-US" sz="800" dirty="0"/>
          </a:p>
          <a:p>
            <a:endParaRPr lang="en-US" sz="800" dirty="0"/>
          </a:p>
          <a:p>
            <a:r>
              <a:rPr sz="750" b="0">
                <a:solidFill>
                  <a:srgbClr val="334155"/>
                </a:solidFill>
              </a:rPr>
              <a:t>입력: "이 맛집은 정말 역대급이에요! 사장님이 너무 친절하시고</a:t>
            </a:r>
          </a:p>
          <a:p>
            <a:r>
              <a:rPr sz="750" b="0">
                <a:solidFill>
                  <a:srgbClr val="334155"/>
                </a:solidFill>
              </a:rPr>
              <a:t>음식도 완벽해요. 주차는 조금 그렇지만 그냥 걸어오면 돼요 ^^"</a:t>
            </a:r>
          </a:p>
          <a:p>
            <a:endParaRPr sz="750" b="0">
              <a:solidFill>
                <a:srgbClr val="334155"/>
              </a:solidFill>
            </a:endParaRPr>
          </a:p>
          <a:p>
            <a:r>
              <a:rPr sz="850" b="1">
                <a:solidFill>
                  <a:srgbClr val="EF4444"/>
                </a:solidFill>
              </a:rPr>
              <a:t>광고 확률  89%   |   신뢰도 점수  23%</a:t>
            </a:r>
          </a:p>
          <a:p>
            <a:endParaRPr sz="850" b="1">
              <a:solidFill>
                <a:srgbClr val="EF4444"/>
              </a:solidFill>
            </a:endParaRPr>
          </a:p>
          <a:p>
            <a:r>
              <a:rPr sz="800" b="1">
                <a:solidFill>
                  <a:srgbClr val="1E293B"/>
                </a:solidFill>
              </a:rPr>
              <a:t>숨겨진 단점 역추론:</a:t>
            </a:r>
          </a:p>
          <a:p>
            <a:r>
              <a:rPr sz="750" b="0">
                <a:solidFill>
                  <a:srgbClr val="475569"/>
                </a:solidFill>
              </a:rPr>
              <a:t>• 주차 불가 언급 회피  (신뢰도 91%)</a:t>
            </a:r>
          </a:p>
          <a:p>
            <a:r>
              <a:rPr sz="750" b="0">
                <a:solidFill>
                  <a:srgbClr val="475569"/>
                </a:solidFill>
              </a:rPr>
              <a:t>• 가격 정보 완전 누락  (신뢰도 87%)</a:t>
            </a:r>
          </a:p>
          <a:p>
            <a:r>
              <a:rPr sz="750" b="0">
                <a:solidFill>
                  <a:srgbClr val="475569"/>
                </a:solidFill>
              </a:rPr>
              <a:t>• 웨이팅 시간 미언급  (신뢰도 78%)</a:t>
            </a:r>
          </a:p>
          <a:p>
            <a:endParaRPr sz="750" b="0">
              <a:solidFill>
                <a:srgbClr val="475569"/>
              </a:solidFill>
            </a:endParaRPr>
          </a:p>
          <a:p>
            <a:r>
              <a:rPr sz="800" b="1">
                <a:solidFill>
                  <a:srgbClr val="1E293B"/>
                </a:solidFill>
              </a:rPr>
              <a:t>탐지된 광고 패턴:</a:t>
            </a:r>
          </a:p>
          <a:p>
            <a:r>
              <a:rPr sz="750" b="0">
                <a:solidFill>
                  <a:srgbClr val="475569"/>
                </a:solidFill>
              </a:rPr>
              <a:t>• 협찬 부인: "솔직한 후기입니다"</a:t>
            </a:r>
          </a:p>
          <a:p>
            <a:r>
              <a:rPr sz="750" b="0">
                <a:solidFill>
                  <a:srgbClr val="475569"/>
                </a:solidFill>
              </a:rPr>
              <a:t>• 과장 표현: "역대급", "완벽해요"</a:t>
            </a:r>
          </a:p>
          <a:p>
            <a:r>
              <a:rPr sz="750" b="0">
                <a:solidFill>
                  <a:srgbClr val="475569"/>
                </a:solidFill>
              </a:rPr>
              <a:t>• 단점 희석: "그렇지만 그냥 걸어오면"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91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사용자 경험: 단순함이 만드는 강력한 변화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14375" y="1412677"/>
            <a:ext cx="3000375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복잡한 과정은 걷어내고,
본질적인 정보에만 집중했습니다.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14375" y="2218469"/>
            <a:ext cx="357188" cy="35718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4" y="2311338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4438" y="2218469"/>
            <a:ext cx="250031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텍스트 복사만으로 끝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214438" y="2466715"/>
            <a:ext cx="25003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 입력의 번거로움 없이, 의심되는 문구만 복사해서 붙여넣으면 즉시 분석이 시작됩니다.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714375" y="3259671"/>
            <a:ext cx="357188" cy="35718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244" y="3352540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14438" y="3259671"/>
            <a:ext cx="250031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로그인 없는 히스토리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214438" y="3507916"/>
            <a:ext cx="25003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개인정보 입력 없이 세션 기반으로 분석 내역이 자동 저장되어 언제든 다시 확인할 수 있습니다.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714375" y="4300872"/>
            <a:ext cx="357188" cy="35718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4393741"/>
            <a:ext cx="128588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14438" y="4300872"/>
            <a:ext cx="250031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모바일 최적화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214438" y="4549118"/>
            <a:ext cx="25003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언제 어디서나 맛집을 검색하며 바로 사용할 수 있는 반응형 인터페이스를 제공합니다.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143375" y="1412677"/>
            <a:ext cx="4286250" cy="3214688"/>
          </a:xfrm>
          <a:prstGeom prst="rect">
            <a:avLst/>
          </a:prstGeom>
          <a:solidFill>
            <a:srgbClr val="F8FAFC"/>
          </a:solidFill>
          <a:ln w="18288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9325" y="2537817"/>
            <a:ext cx="51435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46191" y="3137892"/>
            <a:ext cx="2080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서비스 메인 화면 스크린샷 삽입 공간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5893594" y="3380780"/>
            <a:ext cx="7858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(600px x 450px)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Demo: No-Click 실시간 시연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1357313" y="1198364"/>
            <a:ext cx="6429375" cy="3214688"/>
          </a:xfrm>
          <a:prstGeom prst="rect">
            <a:avLst/>
          </a:prstGeom>
          <a:solidFill>
            <a:srgbClr val="F8FAFC"/>
          </a:solidFill>
          <a:ln w="18288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2227957"/>
            <a:ext cx="571500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77170" y="2942332"/>
            <a:ext cx="298965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데모 시연 영상 또는 스크린샷 삽입 공간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123730" y="3245941"/>
            <a:ext cx="89654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(900px x 450px)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714375" y="4670227"/>
            <a:ext cx="2476509" cy="42148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714375" y="4670227"/>
            <a:ext cx="28575" cy="421481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857250" y="4777383"/>
            <a:ext cx="19288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57288" y="4795242"/>
            <a:ext cx="15055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의심되는 리뷰 텍스트 복사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314700" y="4670227"/>
            <a:ext cx="2486025" cy="42148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3314700" y="4670227"/>
            <a:ext cx="28575" cy="421481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3467091" y="4777383"/>
            <a:ext cx="22681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801061" y="4795242"/>
            <a:ext cx="14162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No-Click 분석 엔진 가동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34056" y="4670227"/>
            <a:ext cx="2495541" cy="42148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5934056" y="4670227"/>
            <a:ext cx="28575" cy="421481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6096019" y="4777383"/>
            <a:ext cx="23038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33561" y="4795242"/>
            <a:ext cx="16948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광고 확률 및 숨겨진 단점 확인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차별성: 왜 No-Click인가?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714375" y="1212652"/>
            <a:ext cx="1785938" cy="37861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14375" y="1584127"/>
            <a:ext cx="1785938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14375" y="1212652"/>
            <a:ext cx="1785938" cy="3786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비교 항목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500313" y="1212652"/>
            <a:ext cx="2738010" cy="378619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2500313" y="1584127"/>
            <a:ext cx="2738010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2500313" y="1212652"/>
            <a:ext cx="2738010" cy="3786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기존 서비스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238322" y="1212652"/>
            <a:ext cx="3184159" cy="378619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408194" y="1212652"/>
            <a:ext cx="14288" cy="378619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238322" y="1584127"/>
            <a:ext cx="3184159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238322" y="1212652"/>
            <a:ext cx="14288" cy="378619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238322" y="1212652"/>
            <a:ext cx="3184159" cy="37861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No-Click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4375" y="1587698"/>
            <a:ext cx="1785938" cy="34647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14375" y="1927027"/>
            <a:ext cx="1785938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14375" y="1587698"/>
            <a:ext cx="1785938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분석 방식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500313" y="1587698"/>
            <a:ext cx="2738010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단순 키워드 매칭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238322" y="1587698"/>
            <a:ext cx="3184159" cy="346472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8408194" y="1587698"/>
            <a:ext cx="14288" cy="346472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238322" y="1927027"/>
            <a:ext cx="3184159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5238322" y="1587698"/>
            <a:ext cx="14288" cy="346472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238322" y="1587698"/>
            <a:ext cx="3184159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딥러닝 기반 문맥 분석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14375" y="1934170"/>
            <a:ext cx="1785938" cy="3500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714375" y="2277070"/>
            <a:ext cx="1785938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714375" y="1934170"/>
            <a:ext cx="1785938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결과 도출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500313" y="1934170"/>
            <a:ext cx="2738010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"광고 의심" 단순 판정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238322" y="1934170"/>
            <a:ext cx="3184159" cy="350044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8408194" y="1934170"/>
            <a:ext cx="14288" cy="350044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5238322" y="2277070"/>
            <a:ext cx="3184159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5238322" y="1934170"/>
            <a:ext cx="14288" cy="350044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238322" y="1934170"/>
            <a:ext cx="3184159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확률 + 신뢰도 + 근거 제시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14375" y="2284214"/>
            <a:ext cx="1785938" cy="36790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714375" y="2644973"/>
            <a:ext cx="1785938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714375" y="2284214"/>
            <a:ext cx="1785938" cy="36790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단점 역추론</a:t>
            </a:r>
            <a:endParaRPr lang="en-US" sz="900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818" y="2377976"/>
            <a:ext cx="107156" cy="17145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5243624" y="2284214"/>
            <a:ext cx="3178857" cy="367903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4"/>
          <p:cNvSpPr/>
          <p:nvPr/>
        </p:nvSpPr>
        <p:spPr>
          <a:xfrm>
            <a:off x="8408194" y="2284214"/>
            <a:ext cx="14288" cy="367903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5"/>
          <p:cNvSpPr/>
          <p:nvPr/>
        </p:nvSpPr>
        <p:spPr>
          <a:xfrm>
            <a:off x="5243624" y="2644973"/>
            <a:ext cx="3178857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6"/>
          <p:cNvSpPr/>
          <p:nvPr/>
        </p:nvSpPr>
        <p:spPr>
          <a:xfrm>
            <a:off x="5243624" y="2284214"/>
            <a:ext cx="14288" cy="367903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571" y="2369939"/>
            <a:ext cx="171450" cy="17145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583021" y="2394942"/>
            <a:ext cx="6715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(핵심 기술)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714375" y="2648545"/>
            <a:ext cx="1785938" cy="36790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9"/>
          <p:cNvSpPr/>
          <p:nvPr/>
        </p:nvSpPr>
        <p:spPr>
          <a:xfrm>
            <a:off x="714375" y="3009305"/>
            <a:ext cx="1785938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/>
          <p:nvPr/>
        </p:nvSpPr>
        <p:spPr>
          <a:xfrm>
            <a:off x="714375" y="2648545"/>
            <a:ext cx="1785938" cy="36790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플랫폼 특화</a:t>
            </a:r>
            <a:endParaRPr lang="en-US" sz="90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818" y="2742307"/>
            <a:ext cx="107156" cy="171450"/>
          </a:xfrm>
          <a:prstGeom prst="rect">
            <a:avLst/>
          </a:prstGeom>
        </p:spPr>
      </p:pic>
      <p:sp>
        <p:nvSpPr>
          <p:cNvPr id="47" name="Shape 41"/>
          <p:cNvSpPr/>
          <p:nvPr/>
        </p:nvSpPr>
        <p:spPr>
          <a:xfrm>
            <a:off x="5243624" y="2648545"/>
            <a:ext cx="3178857" cy="367903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2"/>
          <p:cNvSpPr/>
          <p:nvPr/>
        </p:nvSpPr>
        <p:spPr>
          <a:xfrm>
            <a:off x="8408194" y="2648545"/>
            <a:ext cx="14288" cy="367903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3"/>
          <p:cNvSpPr/>
          <p:nvPr/>
        </p:nvSpPr>
        <p:spPr>
          <a:xfrm>
            <a:off x="5243624" y="3009305"/>
            <a:ext cx="3178857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4"/>
          <p:cNvSpPr/>
          <p:nvPr/>
        </p:nvSpPr>
        <p:spPr>
          <a:xfrm>
            <a:off x="5243624" y="2648545"/>
            <a:ext cx="14288" cy="367903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571" y="2734270"/>
            <a:ext cx="171450" cy="17145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6291021" y="2759273"/>
            <a:ext cx="12555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(네이버/쿠팡/인스타)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714375" y="3012877"/>
            <a:ext cx="1785938" cy="3500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7"/>
          <p:cNvSpPr/>
          <p:nvPr/>
        </p:nvSpPr>
        <p:spPr>
          <a:xfrm>
            <a:off x="714375" y="3355777"/>
            <a:ext cx="1785938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8"/>
          <p:cNvSpPr/>
          <p:nvPr/>
        </p:nvSpPr>
        <p:spPr>
          <a:xfrm>
            <a:off x="714375" y="3012877"/>
            <a:ext cx="1785938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사용 편의성</a:t>
            </a:r>
            <a:endParaRPr lang="en-US" sz="900" dirty="0"/>
          </a:p>
        </p:txBody>
      </p:sp>
      <p:sp>
        <p:nvSpPr>
          <p:cNvPr id="56" name="Text 49"/>
          <p:cNvSpPr/>
          <p:nvPr/>
        </p:nvSpPr>
        <p:spPr>
          <a:xfrm>
            <a:off x="2500313" y="3012877"/>
            <a:ext cx="2743312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 입력 및 대기</a:t>
            </a:r>
            <a:endParaRPr lang="en-US" sz="950" dirty="0"/>
          </a:p>
        </p:txBody>
      </p:sp>
      <p:sp>
        <p:nvSpPr>
          <p:cNvPr id="57" name="Shape 50"/>
          <p:cNvSpPr/>
          <p:nvPr/>
        </p:nvSpPr>
        <p:spPr>
          <a:xfrm>
            <a:off x="5243624" y="3012877"/>
            <a:ext cx="3178857" cy="350044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1"/>
          <p:cNvSpPr/>
          <p:nvPr/>
        </p:nvSpPr>
        <p:spPr>
          <a:xfrm>
            <a:off x="8408194" y="3012877"/>
            <a:ext cx="14288" cy="350044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2"/>
          <p:cNvSpPr/>
          <p:nvPr/>
        </p:nvSpPr>
        <p:spPr>
          <a:xfrm>
            <a:off x="5243624" y="3355777"/>
            <a:ext cx="3178857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3"/>
          <p:cNvSpPr/>
          <p:nvPr/>
        </p:nvSpPr>
        <p:spPr>
          <a:xfrm>
            <a:off x="5243624" y="3012877"/>
            <a:ext cx="14288" cy="350044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4"/>
          <p:cNvSpPr/>
          <p:nvPr/>
        </p:nvSpPr>
        <p:spPr>
          <a:xfrm>
            <a:off x="5243624" y="3012877"/>
            <a:ext cx="3178857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텍스트 복사 즉시 분석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714375" y="3362920"/>
            <a:ext cx="1785938" cy="3589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56"/>
          <p:cNvSpPr/>
          <p:nvPr/>
        </p:nvSpPr>
        <p:spPr>
          <a:xfrm>
            <a:off x="714375" y="3714750"/>
            <a:ext cx="1785938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7"/>
          <p:cNvSpPr/>
          <p:nvPr/>
        </p:nvSpPr>
        <p:spPr>
          <a:xfrm>
            <a:off x="714375" y="3362920"/>
            <a:ext cx="1785938" cy="35897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히스토리 관리</a:t>
            </a:r>
            <a:endParaRPr lang="en-US" sz="900" dirty="0"/>
          </a:p>
        </p:txBody>
      </p:sp>
      <p:pic>
        <p:nvPicPr>
          <p:cNvPr id="6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4818" y="3452217"/>
            <a:ext cx="107156" cy="171450"/>
          </a:xfrm>
          <a:prstGeom prst="rect">
            <a:avLst/>
          </a:prstGeom>
        </p:spPr>
      </p:pic>
      <p:sp>
        <p:nvSpPr>
          <p:cNvPr id="66" name="Shape 58"/>
          <p:cNvSpPr/>
          <p:nvPr/>
        </p:nvSpPr>
        <p:spPr>
          <a:xfrm>
            <a:off x="5243624" y="3362920"/>
            <a:ext cx="3178857" cy="358973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59"/>
          <p:cNvSpPr/>
          <p:nvPr/>
        </p:nvSpPr>
        <p:spPr>
          <a:xfrm>
            <a:off x="8408194" y="3362920"/>
            <a:ext cx="14288" cy="358973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0"/>
          <p:cNvSpPr/>
          <p:nvPr/>
        </p:nvSpPr>
        <p:spPr>
          <a:xfrm>
            <a:off x="5243624" y="3714750"/>
            <a:ext cx="3178857" cy="7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1"/>
          <p:cNvSpPr/>
          <p:nvPr/>
        </p:nvSpPr>
        <p:spPr>
          <a:xfrm>
            <a:off x="5243624" y="3362920"/>
            <a:ext cx="14288" cy="358973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2"/>
          <p:cNvSpPr/>
          <p:nvPr/>
        </p:nvSpPr>
        <p:spPr>
          <a:xfrm>
            <a:off x="5243624" y="3362920"/>
            <a:ext cx="3178857" cy="35897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(세션 기반 저장)</a:t>
            </a:r>
            <a:endParaRPr lang="en-US" sz="900" dirty="0"/>
          </a:p>
        </p:txBody>
      </p:sp>
      <p:sp>
        <p:nvSpPr>
          <p:cNvPr id="71" name="Text 63"/>
          <p:cNvSpPr/>
          <p:nvPr/>
        </p:nvSpPr>
        <p:spPr>
          <a:xfrm>
            <a:off x="900113" y="3868341"/>
            <a:ext cx="75295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기존 서비스가 단순히 '단어'를 필터링할 때, No-Click은 '맥락'과 '결핍'을 분석합니다.
소비자에게 필요한 것은 단순한 의심이 아니라, 판단을 돕는 구체적인 근거입니다.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sz="2100" b="1"/>
              <a:t>내부 테스트 기반 성능 지표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14375" y="1269802"/>
            <a:ext cx="6429375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t>해커톤 기간 내 자체 테스트를 통해 측정한 수치입니다.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074380"/>
            <a:ext cx="1714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3472644"/>
            <a:ext cx="238124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sz="1300" b="1">
                <a:solidFill>
                  <a:srgbClr val="10B981"/>
                </a:solidFill>
              </a:rPr>
              <a:t>광고 탐지 정확도   89%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14375" y="3811972"/>
            <a:ext cx="238124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1100" b="0">
                <a:solidFill>
                  <a:srgbClr val="334155"/>
                </a:solidFill>
              </a:rPr>
              <a:t>AI 엔진이 협찬 부인·과장 표현·단점 회피 패턴을 복합 분석하여 광고성 게시물을 탐지하는 정확도입니다.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66" y="3074380"/>
            <a:ext cx="257175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81366" y="3472644"/>
            <a:ext cx="238124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sz="1300" b="1">
                <a:solidFill>
                  <a:srgbClr val="3B82F6"/>
                </a:solidFill>
              </a:rPr>
              <a:t>역추론 신뢰도   87~91%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381366" y="3811972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1100" b="0">
                <a:solidFill>
                  <a:srgbClr val="334155"/>
                </a:solidFill>
              </a:rPr>
              <a:t>누락된 정보(주차·가격·소음 등)를 문맥 기반으로 추론할 때 각 결핍 항목에 대한 신뢰도 수치를 함께 제공합니다.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356" y="307438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48356" y="3472644"/>
            <a:ext cx="238124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sz="1300" b="1">
                <a:solidFill>
                  <a:srgbClr val="F59E0B"/>
                </a:solidFill>
              </a:rPr>
              <a:t>API 응답 시간   &lt; 3초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048356" y="3811972"/>
            <a:ext cx="238124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1100" b="0">
                <a:solidFill>
                  <a:srgbClr val="334155"/>
                </a:solidFill>
              </a:rPr>
              <a:t>SHA-256 캐시 확인 후 Gemini 2.0 Flash 호출 기준, 평균 2~3초 이내 전체 분석 결과를 반환합니다.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시스템 구조: 견고하고 안전한 아키텍처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714375" y="1269802"/>
            <a:ext cx="4371975" cy="712589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857250" y="1376958"/>
            <a:ext cx="408622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사용자 브라우저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7250" y="1646634"/>
            <a:ext cx="4086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React + TypeScript + Tailwind CSS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104" y="2014538"/>
            <a:ext cx="10715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67260" y="2000250"/>
            <a:ext cx="117336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HTTP JSON 요청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14375" y="2260997"/>
            <a:ext cx="4371975" cy="1032272"/>
          </a:xfrm>
          <a:prstGeom prst="rect">
            <a:avLst/>
          </a:prstGeom>
          <a:solidFill>
            <a:srgbClr val="FFFFFF"/>
          </a:solidFill>
          <a:ln w="27432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857250" y="2368153"/>
            <a:ext cx="40862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57250" y="2614613"/>
            <a:ext cx="40862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Rate Limiter (IP당 분당 10회)
CORS Filter (허용 도메인만)
Input Validator + 인젝션 탐지</a:t>
            </a:r>
            <a:endParaRPr lang="en-US" sz="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784" y="3321844"/>
            <a:ext cx="107156" cy="14287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14375" y="3552230"/>
            <a:ext cx="2114550" cy="1032272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857250" y="3659386"/>
            <a:ext cx="180022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57250" y="3905845"/>
            <a:ext cx="18002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SHA-256 캐시
</a:t>
            </a:r>
            <a:r>
              <a:rPr lang="en-US" sz="800" b="1" dirty="0">
                <a:solidFill>
                  <a:srgbClr val="333333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Gemini 3.0 Flash (Main)</a:t>
            </a:r>
            <a:r>
              <a:rPr lang="en-US" sz="8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EXAONE 3.5 (Fallback)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2943225" y="3552230"/>
            <a:ext cx="2143125" cy="975122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3114675" y="3659386"/>
            <a:ext cx="18288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SQLite DB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114675" y="3905845"/>
            <a:ext cx="1828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analyses 테이블
Alembic 마이그레이션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5514975" y="1341239"/>
            <a:ext cx="2914650" cy="36968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보안 레이어 (4단계)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514975" y="1925241"/>
            <a:ext cx="226814" cy="214313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40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848945" y="1925241"/>
            <a:ext cx="186809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848945" y="2160984"/>
            <a:ext cx="186809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IP당 분당 10회 제한으로 어뷰징 방지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5514975" y="2530673"/>
            <a:ext cx="266105" cy="214313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40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888236" y="2530673"/>
            <a:ext cx="179665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CORS 도메인 검증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888236" y="2766417"/>
            <a:ext cx="179665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허용된 도메인에서만 API 접근 가능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5514975" y="3136106"/>
            <a:ext cx="271463" cy="214313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40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893594" y="3136106"/>
            <a:ext cx="1714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 유효성 검사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893594" y="3371850"/>
            <a:ext cx="17145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5종 검사 및 악의적 프롬프트 차단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5514975" y="3741539"/>
            <a:ext cx="276820" cy="214313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400" b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898952" y="3741539"/>
            <a:ext cx="238244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SHA-256 캐시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898952" y="3977283"/>
            <a:ext cx="238244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동일 텍스트 재분석 시 API 호출 없이 즉시 반환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Team Caeser: 전문성을 갖춘 팀원들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14375" y="1684139"/>
            <a:ext cx="238124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AI &amp; BACKEND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14375" y="1893094"/>
            <a:ext cx="2381241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박성원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409230"/>
            <a:ext cx="114300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380655"/>
            <a:ext cx="218121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2.0 기반 AI 분석 엔진 설계 및 최적화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876420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847845"/>
            <a:ext cx="218121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백엔드 아키텍처 및 보안 레이어 구축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343610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3315035"/>
            <a:ext cx="218121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데이터베이스 스키마 설계 및 API 명세 수립</a:t>
            </a:r>
            <a:endParaRPr lang="en-US" sz="950" dirty="0"/>
          </a:p>
        </p:txBody>
      </p:sp>
      <p:sp>
        <p:nvSpPr>
          <p:cNvPr id="12" name="Shape 6"/>
          <p:cNvSpPr/>
          <p:nvPr/>
        </p:nvSpPr>
        <p:spPr>
          <a:xfrm>
            <a:off x="714375" y="4464844"/>
            <a:ext cx="2381241" cy="250031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714375" y="4464844"/>
            <a:ext cx="23812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엔진 및 서버 구축 완료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3381366" y="1684139"/>
            <a:ext cx="238124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FRONTEND DEVELOPMENT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3381366" y="1893094"/>
            <a:ext cx="2381241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차아미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1366" y="2409230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581391" y="2380655"/>
            <a:ext cx="218121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기반 고성능 웹 인터페이스 구현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1366" y="2876420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581391" y="2847845"/>
            <a:ext cx="218121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AI 분석 결과 시각화 컴포넌트 개발</a:t>
            </a:r>
            <a:endParaRPr lang="en-US" sz="9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1366" y="3343610"/>
            <a:ext cx="114300" cy="1143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581391" y="3315035"/>
            <a:ext cx="218121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백엔드 API 연동 및 상태 관리 시스템 구축</a:t>
            </a:r>
            <a:endParaRPr lang="en-US" sz="950" dirty="0"/>
          </a:p>
        </p:txBody>
      </p:sp>
      <p:sp>
        <p:nvSpPr>
          <p:cNvPr id="22" name="Shape 13"/>
          <p:cNvSpPr/>
          <p:nvPr/>
        </p:nvSpPr>
        <p:spPr>
          <a:xfrm>
            <a:off x="3381366" y="4464844"/>
            <a:ext cx="2381241" cy="250031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4"/>
          <p:cNvSpPr/>
          <p:nvPr/>
        </p:nvSpPr>
        <p:spPr>
          <a:xfrm>
            <a:off x="3381366" y="4464844"/>
            <a:ext cx="23812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컴포넌트 및 API 연동 완료</a:t>
            </a:r>
            <a:endParaRPr lang="en-US" sz="700" dirty="0"/>
          </a:p>
        </p:txBody>
      </p:sp>
      <p:sp>
        <p:nvSpPr>
          <p:cNvPr id="24" name="Text 15"/>
          <p:cNvSpPr/>
          <p:nvPr/>
        </p:nvSpPr>
        <p:spPr>
          <a:xfrm>
            <a:off x="6048356" y="1684139"/>
            <a:ext cx="238124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4ADE8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UI/UX &amp; FRONTEND</a:t>
            </a:r>
            <a:endParaRPr lang="en-US" sz="800" dirty="0"/>
          </a:p>
        </p:txBody>
      </p:sp>
      <p:sp>
        <p:nvSpPr>
          <p:cNvPr id="25" name="Text 16"/>
          <p:cNvSpPr/>
          <p:nvPr/>
        </p:nvSpPr>
        <p:spPr>
          <a:xfrm>
            <a:off x="6048356" y="1893094"/>
            <a:ext cx="2381241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서예솔</a:t>
            </a:r>
            <a:endParaRPr lang="en-US" sz="16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8356" y="2409230"/>
            <a:ext cx="114300" cy="1143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248381" y="2380655"/>
            <a:ext cx="218121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 중심의 디자인 시스템 및 인터랙션 설계</a:t>
            </a:r>
            <a:endParaRPr lang="en-US" sz="95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8356" y="2876420"/>
            <a:ext cx="114300" cy="1143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248381" y="2847845"/>
            <a:ext cx="218121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 아이덴티티 및 시각적 가이드라인 수립</a:t>
            </a:r>
            <a:endParaRPr lang="en-US" sz="95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48356" y="3343610"/>
            <a:ext cx="114300" cy="1143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248381" y="3315035"/>
            <a:ext cx="218121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프론트엔드 레이아웃 및 스타일링 최적화</a:t>
            </a:r>
            <a:endParaRPr lang="en-US" sz="950" dirty="0"/>
          </a:p>
        </p:txBody>
      </p:sp>
      <p:sp>
        <p:nvSpPr>
          <p:cNvPr id="32" name="Shape 20"/>
          <p:cNvSpPr/>
          <p:nvPr/>
        </p:nvSpPr>
        <p:spPr>
          <a:xfrm>
            <a:off x="6048356" y="4464844"/>
            <a:ext cx="2381241" cy="250031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1"/>
          <p:cNvSpPr/>
          <p:nvPr/>
        </p:nvSpPr>
        <p:spPr>
          <a:xfrm>
            <a:off x="6048356" y="4464844"/>
            <a:ext cx="23812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디자인 시스템 및 결과 화면 적용 완료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향후 비전: 기술 고도화 및 생태계 확장</a:t>
            </a:r>
            <a:endParaRPr lang="en-US" sz="2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675209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4375" y="2137767"/>
            <a:ext cx="2428875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B2B API 서비스 론칭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714375" y="2467803"/>
            <a:ext cx="2428875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No-Click 분석 엔진을 REST API로 개방하여 커머스 플랫폼, 언론사, 소비자 단체 등 B2B 고객에게 제공합니다. 구독형 SaaS 모델로 지속 가능한 수익 구조를 구축합니다.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714375" y="3387896"/>
            <a:ext cx="2428875" cy="192881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714375" y="3387896"/>
            <a:ext cx="2428875" cy="19288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6653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B2B Enterprise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7563" y="1675209"/>
            <a:ext cx="357188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57563" y="2137767"/>
            <a:ext cx="2428875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클라우드 기반 전용 모델 학습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57563" y="2467803"/>
            <a:ext cx="2428875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대규모 리뷰 데이터를 수집하여 클라우드 환경에서 No-Click 전용 모델을 파인튜닝(Fine-tuning)함으로써 독보적인 평가 기준을 수립합니다.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3357563" y="3387896"/>
            <a:ext cx="2428875" cy="192881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/>
          <p:nvPr/>
        </p:nvSpPr>
        <p:spPr>
          <a:xfrm>
            <a:off x="3357563" y="3387896"/>
            <a:ext cx="2428875" cy="19288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6653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Custom Cloud Learning</a:t>
            </a:r>
            <a:endParaRPr lang="en-US" sz="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0" y="1675209"/>
            <a:ext cx="285750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00750" y="2137767"/>
            <a:ext cx="2428875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플랫폼 다양화 및 생태계 확장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000750" y="2467803"/>
            <a:ext cx="2428875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네이버, 쿠팡을 넘어 인스타그램, 유튜브 등 영상/이미지 기반 플랫폼으로 확장하고 크롬 익스텐션을 통해 즉각적인 사용자 경험을 제공합니다.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6000750" y="3387896"/>
            <a:ext cx="2428875" cy="192881"/>
          </a:xfrm>
          <a:prstGeom prst="rect">
            <a:avLst/>
          </a:prstGeom>
          <a:solidFill>
            <a:srgbClr val="4ADE80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/>
          <p:nvPr/>
        </p:nvSpPr>
        <p:spPr>
          <a:xfrm>
            <a:off x="6000750" y="3387896"/>
            <a:ext cx="2428875" cy="192881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6653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Multi-Platform Ecosystem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714375" y="4280892"/>
            <a:ext cx="7715250" cy="433983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No-Click은 기술적 한계를 넘어, 데이터로 증명하는 투명한 리뷰 문화를 선도하겠습니다.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758" y="1442163"/>
            <a:ext cx="446484" cy="357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93899" y="2054740"/>
            <a:ext cx="6756202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kern="0" spc="-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Thank You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2373543" y="3019245"/>
            <a:ext cx="42862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 &amp; A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373543" y="3476445"/>
            <a:ext cx="4286250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4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Caeser 팀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373543" y="3830759"/>
            <a:ext cx="4286250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44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박성원 · 차아미 · 서예솔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2373543" y="4062205"/>
            <a:ext cx="4286250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44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수원대학교 DS&amp;ML센터 바이브코딩 해커톤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1328</Words>
  <Application>Microsoft Macintosh PowerPoint</Application>
  <PresentationFormat>화면 슬라이드 쇼(16:9)</PresentationFormat>
  <Paragraphs>207</Paragraphs>
  <Slides>17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Inter</vt:lpstr>
      <vt:lpstr>Inter Bold</vt:lpstr>
      <vt:lpstr>Inter ExtraBold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박 성원</cp:lastModifiedBy>
  <cp:revision>4</cp:revision>
  <dcterms:created xsi:type="dcterms:W3CDTF">2026-05-11T06:41:06Z</dcterms:created>
  <dcterms:modified xsi:type="dcterms:W3CDTF">2026-05-13T00:00:10Z</dcterms:modified>
</cp:coreProperties>
</file>